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9144000" cy="5143500" type="screen16x9"/>
  <p:notesSz cx="5143500" cy="9144000"/>
  <p:embeddedFontLst>
    <p:embeddedFont>
      <p:font typeface="Inter" panose="020B0604020202020204" charset="0"/>
      <p:regular r:id="rId22"/>
    </p:embeddedFont>
    <p:embeddedFont>
      <p:font typeface="Inter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4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9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63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75E09-94B8-4619-8878-F3B7779222B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659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9D4A-F042-9694-386F-4681C4336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77C5F-7367-D1CD-5E28-910BD8BD0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E4E5-D6E0-895D-53FF-8FDA5BE7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E000-2A03-4B20-908A-01FB9B43EB4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61B68-2F9B-7E34-7E2F-F6396303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08FB2-4D37-434F-494F-44811014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07027-ECA6-43DD-8D47-0030E2EDE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32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E5A3-7268-B5DB-CDA6-6869213F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F195-B879-2271-26B3-5F7DD167E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99AA-09F0-C48C-8791-24377176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E000-2A03-4B20-908A-01FB9B43EB4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A03D5-2E8A-1CC1-F8D0-0814EBEF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7A23-7CBA-08C9-DD43-67834666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07027-ECA6-43DD-8D47-0030E2EDE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59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BEE9-D7F4-5204-4E5D-954530D17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213" y="77430"/>
            <a:ext cx="8377084" cy="88859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EC9C4-8786-687F-82B6-AB66342E9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17" y="966020"/>
            <a:ext cx="8952271" cy="4100051"/>
          </a:xfrm>
        </p:spPr>
        <p:txBody>
          <a:bodyPr>
            <a:normAutofit/>
          </a:bodyPr>
          <a:lstStyle/>
          <a:p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TECHNICAL PRESENTATION</a:t>
            </a:r>
          </a:p>
          <a:p>
            <a:endParaRPr lang="en-US" dirty="0"/>
          </a:p>
          <a:p>
            <a:r>
              <a:rPr lang="en-US" sz="2100" b="1" dirty="0">
                <a:latin typeface="Times New Roman"/>
                <a:ea typeface="Times New Roman"/>
                <a:cs typeface="Times New Roman"/>
                <a:sym typeface="Times New Roman"/>
              </a:rPr>
              <a:t>CSA0504- Database Management Systems</a:t>
            </a:r>
            <a:endParaRPr lang="en-US" sz="27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sz="27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PRESENTED BY: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Shree </a:t>
            </a:r>
            <a:r>
              <a:rPr lang="en-US" sz="1200" b="1" dirty="0" err="1">
                <a:latin typeface="Times New Roman"/>
                <a:ea typeface="Times New Roman"/>
                <a:cs typeface="Times New Roman"/>
                <a:sym typeface="Times New Roman"/>
              </a:rPr>
              <a:t>Ranjane</a:t>
            </a:r>
            <a:r>
              <a:rPr lang="en-U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 K( 192471052)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IN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BC7BAA-E47D-9892-89F4-76C631088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5" y="144781"/>
            <a:ext cx="8952271" cy="119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6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AD87-A12D-763F-D604-9D486725D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29" y="273844"/>
            <a:ext cx="8708922" cy="99417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</a:t>
            </a:r>
            <a:r>
              <a:rPr lang="en-IN" sz="2400" dirty="0"/>
              <a:t> Entity-Relationship (ER) Diagram for an Online Library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85CF-368C-88AC-63DA-649E5CE0F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349" y="1057365"/>
            <a:ext cx="6919943" cy="307324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ER Diagram?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(ER) Diagram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graphical representation of a database that shows:</a:t>
            </a:r>
          </a:p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Objects or things (Book, Member). </a:t>
            </a:r>
          </a:p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Properties of entities (Book ID, Title). </a:t>
            </a:r>
          </a:p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Connections between entities (Borrow, Manages). </a:t>
            </a:r>
          </a:p>
          <a:p>
            <a:pPr marL="0" indent="0">
              <a:buNone/>
            </a:pPr>
            <a:endParaRPr lang="en-IN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database structure.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database design and implementation.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relationships easy to understand.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50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D10A1-345B-C32E-A52D-44135758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" y="273844"/>
            <a:ext cx="8701549" cy="994172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447ED-2905-C2DF-844B-CDCD1CE2D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5" y="1214307"/>
            <a:ext cx="9576305" cy="45040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b="1" dirty="0"/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Member can borrow many Books.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Book can be borrowed by many members at different times.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Borrow Record belongs to one Member.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Borrow Record is linked to one Book.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Librarian manages multiple borrow records.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Category contains many books.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Book belongs to only one Category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178451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2AFF-CFBF-2A78-47A0-06678C349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8" y="273845"/>
            <a:ext cx="8664677" cy="625230"/>
          </a:xfrm>
        </p:spPr>
        <p:txBody>
          <a:bodyPr>
            <a:normAutofit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ER Diagram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FE86B5-5161-A138-DA07-19EA563254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168" y="1362647"/>
            <a:ext cx="8049296" cy="228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Easy to understand database structure.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 Organizes library information efficiently.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 Minimizes duplicate data.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Improves data accuracy.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 Makes database maintenance easier.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Supports quick book search and issue/return process</a:t>
            </a:r>
            <a:r>
              <a:rPr lang="en-IN" sz="1800" dirty="0"/>
              <a:t>.</a:t>
            </a:r>
            <a:endParaRPr lang="en-US" alt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40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C257-D9F8-F027-19C7-1BA30CA3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8" y="462596"/>
            <a:ext cx="8694174" cy="689967"/>
          </a:xfrm>
        </p:spPr>
        <p:txBody>
          <a:bodyPr>
            <a:normAutofit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A20DAE2-6F92-3D22-43D6-22158EE537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462" y="1517088"/>
            <a:ext cx="8210725" cy="168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represents the Online Library database visually.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defines entities, attributes, and relationships clearly.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improves database organization and management.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serves as the foundation for developing an Online Library Management System.</a:t>
            </a:r>
            <a:endParaRPr lang="en-US" alt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86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40390-45EA-6679-5F4B-EAFF4CC6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0" y="273844"/>
            <a:ext cx="8738420" cy="994172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</a:t>
            </a:r>
            <a:r>
              <a:rPr lang="en-IN" sz="2800" dirty="0"/>
              <a:t> Enhanced Entity-Relationship (EER) Model: Generalization and Specialization Using a University Case Study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69C6B02-3A3A-532E-FFA8-60F168B4DF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936" y="1370701"/>
            <a:ext cx="8338128" cy="343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EER Model?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stands for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Entity-Relationship Model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extension of the traditional ER model.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more complex real-world relationships.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concepts such as: </a:t>
            </a:r>
          </a:p>
          <a:p>
            <a:pPr marL="457200" lvl="1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database design and flexibility. 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complex data efficiently.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redundancy.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inheritance of attributes.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database design more organized. </a:t>
            </a:r>
          </a:p>
          <a:p>
            <a:pPr marL="0" indent="0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99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0521-EBDC-F144-851C-2027FE68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3" y="273844"/>
            <a:ext cx="8708922" cy="994172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9D551CB-5681-1345-DE33-6A2B528A3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712" y="541055"/>
            <a:ext cx="8559964" cy="4351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Generalization?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is the process of combining similar entities into one common entity.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a </a:t>
            </a: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attributes are moved to a superclass.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duplicate data.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database design. </a:t>
            </a:r>
          </a:p>
          <a:p>
            <a:endParaRPr lang="en-IN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Example</a:t>
            </a:r>
          </a:p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common information.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have: </a:t>
            </a:r>
          </a:p>
          <a:p>
            <a:pPr lvl="1"/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</a:p>
          <a:p>
            <a:pPr lvl="1"/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lvl="1"/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pPr lvl="1"/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common attributes are combined into a </a:t>
            </a: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entity.</a:t>
            </a:r>
          </a:p>
          <a:p>
            <a:pPr marL="0" indent="0">
              <a:buNone/>
            </a:pP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61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796F-7754-D7FD-5A96-DB717402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6" y="273844"/>
            <a:ext cx="8775290" cy="994172"/>
          </a:xfrm>
        </p:spPr>
        <p:txBody>
          <a:bodyPr>
            <a:normAutofit/>
          </a:bodyPr>
          <a:lstStyle/>
          <a:p>
            <a:pPr algn="ctr"/>
            <a:r>
              <a:rPr lang="en-IN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227B13-29B4-3DEE-D51F-DFE92086FC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5974" y="609972"/>
            <a:ext cx="8022258" cy="4067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Specialization?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is the process of dividing one entity into multiple specialized entities.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a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approach.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subclass inherits the attributes of the superclass.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subclass has its own unique attributes.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Person entity with common attributes such as Person ID, Name, Email, and Phone Number. The Person entity can be specialized into two subclasses: Student – with additional attributes such as Roll Number, Course, Semester, and CGPA.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– with additional attributes such as Employee ID, Department, Designation, and Salary.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Student and Faculty inherit the common attributes from the Person entity while maintaining their own specific details.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82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A80B-475C-BBD5-99C1-8B6B79E3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273844"/>
            <a:ext cx="8782664" cy="994172"/>
          </a:xfrm>
        </p:spPr>
        <p:txBody>
          <a:bodyPr>
            <a:normAutofit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93D9A1-085D-1200-F433-1039B78D2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962" y="1220881"/>
            <a:ext cx="7886700" cy="3648776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is an extension of the ER model.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advanced database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combines similar entities into a superclass.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creates subclasses with unique characteristics.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University database, the EER model efficiently manages students, faculty, and other users while reducing redundancy and improving data organization. 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82619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5780"/>
            <a:ext cx="4722763" cy="118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Q3.Data Independence, DBMS Software Components, and Strong vs Weak Entities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6119" y="1758032"/>
            <a:ext cx="5179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2117601"/>
            <a:ext cx="4722763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446" y="2529222"/>
            <a:ext cx="189384" cy="1893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6363" y="2522934"/>
            <a:ext cx="431251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concept of Data Independence.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446" y="3139120"/>
            <a:ext cx="189384" cy="1893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6363" y="3132832"/>
            <a:ext cx="431251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the software components of a DBMS.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446" y="3749018"/>
            <a:ext cx="189384" cy="1893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6363" y="3742730"/>
            <a:ext cx="431251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Strong and Weak Entities in ER Modeling.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446" y="4358915"/>
            <a:ext cx="189384" cy="1893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06363" y="4352627"/>
            <a:ext cx="431251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real-world examples of database design.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64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DBMS Architecture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452042"/>
            <a:ext cx="4107135" cy="2895005"/>
          </a:xfrm>
          <a:prstGeom prst="roundRect">
            <a:avLst>
              <a:gd name="adj" fmla="val 3526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593800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DBMS?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957015"/>
            <a:ext cx="3823618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Database Management System (DBMS) is software used to store, manage, retrieve, and manipulate data efficiently.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acts as an interface between users and the database.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data security, consistency, and integrity.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multiple users accessing data simultaneously.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59380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Three-Level DBMS Architecture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95701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 Level: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 views of the database.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Conceptual Level: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Logical structure of the database.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Level: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Physical storage of data.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87833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3241551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data management.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redundancy.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security.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maintenance.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60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Independence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336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06575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Independence is the ability to modify the database schema at one level without affecting the next higher level.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separates data storage from application programs.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flexibility and maintainability.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38152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744739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Logical Data Independence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Physical Data Independence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1501601"/>
            <a:ext cx="4107135" cy="2795885"/>
          </a:xfrm>
          <a:prstGeom prst="roundRect">
            <a:avLst>
              <a:gd name="adj" fmla="val 3651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4789363" y="1643360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006575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database modifications.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application maintenance.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Enhances database scalability.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60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Logical and Physical Data Independence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336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Logical Data Independence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06575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modify the conceptual schema without affecting user views.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include adding/removing attributes or tables.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programs continue to work without changes.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38152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744739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a "Department" table.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a "Phone Number" column to Student.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64336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Physical Data Independence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006575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modify physical storage without affecting logical schema.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include indexing, file organization, and storage devices.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31051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346836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indexes.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database from HDD to SSD.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Compressing database files.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783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Significance of Data Independence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844897"/>
            <a:ext cx="8151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183109"/>
            <a:ext cx="2649959" cy="425053"/>
          </a:xfrm>
          <a:prstGeom prst="roundRect">
            <a:avLst>
              <a:gd name="adj" fmla="val 118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0464" y="1307455"/>
            <a:ext cx="240126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impact of database changes.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46983" y="1183109"/>
            <a:ext cx="2649959" cy="425053"/>
          </a:xfrm>
          <a:prstGeom prst="roundRect">
            <a:avLst>
              <a:gd name="adj" fmla="val 118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1329" y="1307455"/>
            <a:ext cx="240126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database flexibility.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97848" y="1183109"/>
            <a:ext cx="2649959" cy="425053"/>
          </a:xfrm>
          <a:prstGeom prst="roundRect">
            <a:avLst>
              <a:gd name="adj" fmla="val 118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2194" y="1307455"/>
            <a:ext cx="240126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maintenance.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1709068"/>
            <a:ext cx="2649959" cy="425053"/>
          </a:xfrm>
          <a:prstGeom prst="roundRect">
            <a:avLst>
              <a:gd name="adj" fmla="val 118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464" y="1833414"/>
            <a:ext cx="240126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Enhances system performance.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983" y="1709068"/>
            <a:ext cx="2649959" cy="425053"/>
          </a:xfrm>
          <a:prstGeom prst="roundRect">
            <a:avLst>
              <a:gd name="adj" fmla="val 118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1329" y="1833414"/>
            <a:ext cx="240126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database growth.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97848" y="1709068"/>
            <a:ext cx="2649959" cy="425053"/>
          </a:xfrm>
          <a:prstGeom prst="roundRect">
            <a:avLst>
              <a:gd name="adj" fmla="val 118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2194" y="1833414"/>
            <a:ext cx="240126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development cost.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6119" y="2235026"/>
            <a:ext cx="8151688" cy="425053"/>
          </a:xfrm>
          <a:prstGeom prst="roundRect">
            <a:avLst>
              <a:gd name="adj" fmla="val 118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464" y="2359372"/>
            <a:ext cx="790299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reliability and security.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119" y="2811438"/>
            <a:ext cx="8151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6119" y="3149650"/>
            <a:ext cx="8151763" cy="1562993"/>
          </a:xfrm>
          <a:prstGeom prst="roundRect">
            <a:avLst>
              <a:gd name="adj" fmla="val 321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6119" y="3463677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96119" y="3775323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96119" y="4086969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6119" y="4398615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149650"/>
            <a:ext cx="7476" cy="156299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0464" y="3219673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Logical Data Independence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3965" y="3219673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Physical Data Independence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464" y="3531319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conceptual schema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3965" y="3531319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physical storage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0464" y="3842965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Harder to achieve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3965" y="3842965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to achieve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0464" y="4154612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Affects logical structure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3965" y="4154612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Affects storage only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0464" y="4466258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Add a table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93965" y="4466258"/>
            <a:ext cx="42867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Create an index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Components of DBMS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25450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Software Components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96119" y="789310"/>
            <a:ext cx="2693640" cy="509960"/>
          </a:xfrm>
          <a:prstGeom prst="roundRect">
            <a:avLst>
              <a:gd name="adj" fmla="val 583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723" y="864915"/>
            <a:ext cx="212601" cy="21260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213" y="923404"/>
            <a:ext cx="95622" cy="956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723" y="1112937"/>
            <a:ext cx="25424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Query Processor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225180" y="789310"/>
            <a:ext cx="2693640" cy="509960"/>
          </a:xfrm>
          <a:prstGeom prst="roundRect">
            <a:avLst>
              <a:gd name="adj" fmla="val 583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00785" y="864915"/>
            <a:ext cx="212601" cy="21260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9274" y="923404"/>
            <a:ext cx="95622" cy="956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00785" y="1112937"/>
            <a:ext cx="25424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 Manager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5954241" y="789310"/>
            <a:ext cx="2693640" cy="509960"/>
          </a:xfrm>
          <a:prstGeom prst="roundRect">
            <a:avLst>
              <a:gd name="adj" fmla="val 583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29846" y="864915"/>
            <a:ext cx="212601" cy="21260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8335" y="923404"/>
            <a:ext cx="95622" cy="956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29846" y="1112937"/>
            <a:ext cx="25424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 Manager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496119" y="1352401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496119" y="1516261"/>
            <a:ext cx="8151763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SQL queries.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data storage.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secure and reliable transactions.</a:t>
            </a:r>
            <a:endParaRPr lang="en-US" sz="550" dirty="0"/>
          </a:p>
        </p:txBody>
      </p:sp>
      <p:sp>
        <p:nvSpPr>
          <p:cNvPr id="18" name="Text 13"/>
          <p:cNvSpPr/>
          <p:nvPr/>
        </p:nvSpPr>
        <p:spPr>
          <a:xfrm>
            <a:off x="496119" y="1849264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Working Flow</a:t>
            </a:r>
            <a:endParaRPr lang="en-US" sz="6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41" y="2013124"/>
            <a:ext cx="7890644" cy="29609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02209" y="4140632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 Manager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502299" y="425526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010540" y="4140632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 Manager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518781" y="4140632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Query Processor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94415" y="425526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2113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Q4.Query Processor, Storage Manager &amp; Transaction Manager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61604"/>
            <a:ext cx="2622724" cy="2789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1180" y="185797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234768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Query Processor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654201"/>
            <a:ext cx="2301106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SQL queries from users.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and validates SQL statements.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Optimizes query execution.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queries efficiently.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761604"/>
            <a:ext cx="2622724" cy="27897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65662" y="185797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421410" y="234768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 Manager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654201"/>
            <a:ext cx="2301106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physical storage of data.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Organizes files and indexes.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Retrieves and stores database records.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buffer management.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761604"/>
            <a:ext cx="2622724" cy="27897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30145" y="185797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185892" y="234768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 Manager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654201"/>
            <a:ext cx="2301106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database transactions.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ACID properties.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concurrent user access.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commit and rollback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82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and Weak Entities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313855"/>
            <a:ext cx="4107135" cy="3171379"/>
          </a:xfrm>
          <a:prstGeom prst="roundRect">
            <a:avLst>
              <a:gd name="adj" fmla="val 3219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45561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Entity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818829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its own Primary Key.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Exists independently.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be uniquely identified.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Represented by a single rectangle.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301652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3379738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45561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Weak Entity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181882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have a complete Primary Key.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Depends on a Strong Entity.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using a partial key.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Represented by a double rectangle.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301652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337973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Item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Record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907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Q5.Comparison with Real-World Examples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96119" y="997000"/>
            <a:ext cx="8151763" cy="1472208"/>
          </a:xfrm>
          <a:prstGeom prst="roundRect">
            <a:avLst>
              <a:gd name="adj" fmla="val 32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292870"/>
            <a:ext cx="8151763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586359"/>
            <a:ext cx="8151763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879848"/>
            <a:ext cx="8151763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173337"/>
            <a:ext cx="8151763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997000"/>
            <a:ext cx="7199" cy="147220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6000" y="1062633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Entity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9500" y="1062633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Weak Entity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6000" y="1356122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Primary Key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9500" y="1356122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complete Primary Key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6000" y="1649611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Exists independently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9500" y="1649611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Depends on Strong Entity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6000" y="1943100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Rectangle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9500" y="1943100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Rectangle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6000" y="2236589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relationship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9500" y="2236589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relationship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119" y="2667967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University Example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119" y="2941439"/>
            <a:ext cx="43925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Entity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6119" y="3192587"/>
            <a:ext cx="3935388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6119" y="3843189"/>
            <a:ext cx="43925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Weak Entity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6119" y="4094336"/>
            <a:ext cx="3935388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Enrollment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 Result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Record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17256" y="2667967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Library Example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7256" y="2941439"/>
            <a:ext cx="43925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Entity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7256" y="3192587"/>
            <a:ext cx="3935388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7256" y="3643461"/>
            <a:ext cx="43925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Weak Entity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7256" y="3894609"/>
            <a:ext cx="3935388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Record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 Details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80641" y="49611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1109730" y="1331603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02773" y="1408920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Independence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02773" y="1707693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flexibility and scalability.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7695" y="1343823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60737" y="1433640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DBMS Components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60737" y="1816601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efficient data management.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10618" y="2868029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00195" y="2962636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&amp; Weak Entities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273684" y="324204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database design accuracy.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97898" y="38917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these concepts helps design robust and scalable databases.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1233</Words>
  <Application>Microsoft Office PowerPoint</Application>
  <PresentationFormat>On-screen Show (16:9)</PresentationFormat>
  <Paragraphs>260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Inter</vt:lpstr>
      <vt:lpstr>Inter Bold</vt:lpstr>
      <vt:lpstr>Arial</vt:lpstr>
      <vt:lpstr>Wingdings</vt:lpstr>
      <vt:lpstr>Times New Roman</vt:lpstr>
      <vt:lpstr>Office Theme</vt:lpstr>
      <vt:lpstr>PowerPoint Presentation</vt:lpstr>
      <vt:lpstr>Q1. Entity-Relationship (ER) Diagram for an Online Library Management System. </vt:lpstr>
      <vt:lpstr>Relationships</vt:lpstr>
      <vt:lpstr>Benefits of ER Diagram</vt:lpstr>
      <vt:lpstr>Conclusion</vt:lpstr>
      <vt:lpstr>Q2. Enhanced Entity-Relationship (EER) Model: Generalization and Specialization Using a University Case Study. </vt:lpstr>
      <vt:lpstr>                  </vt:lpstr>
      <vt:lpstr> 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lastModifiedBy>shreeranjane70@gmail.com</cp:lastModifiedBy>
  <cp:revision>2</cp:revision>
  <dcterms:created xsi:type="dcterms:W3CDTF">2026-07-23T03:36:28Z</dcterms:created>
  <dcterms:modified xsi:type="dcterms:W3CDTF">2026-07-23T03:55:32Z</dcterms:modified>
</cp:coreProperties>
</file>